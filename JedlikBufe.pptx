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84" r:id="rId4"/>
    <p:sldId id="258" r:id="rId5"/>
    <p:sldId id="280" r:id="rId6"/>
    <p:sldId id="282" r:id="rId7"/>
    <p:sldId id="285" r:id="rId8"/>
    <p:sldId id="266" r:id="rId9"/>
    <p:sldId id="265" r:id="rId10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2"/>
      <p:bold r:id="rId13"/>
      <p:italic r:id="rId14"/>
      <p:boldItalic r:id="rId15"/>
    </p:embeddedFont>
    <p:embeddedFont>
      <p:font typeface="PT Sans Narrow" panose="020B0604020202020204" charset="-18"/>
      <p:regular r:id="rId16"/>
      <p:bold r:id="rId17"/>
    </p:embeddedFont>
    <p:embeddedFont>
      <p:font typeface="Segoe UI Black" panose="020B0A02040204020203" pitchFamily="34" charset="0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  <a:srgbClr val="F09869"/>
    <a:srgbClr val="E1982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2659" autoAdjust="0"/>
  </p:normalViewPr>
  <p:slideViewPr>
    <p:cSldViewPr snapToGrid="0">
      <p:cViewPr varScale="1">
        <p:scale>
          <a:sx n="125" d="100"/>
          <a:sy n="125" d="100"/>
        </p:scale>
        <p:origin x="53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e2e646c67_0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e2e646c67_0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hu-H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17555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e2e646c67_0_10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1e2e646c67_0_10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2190dc4a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2190dc4a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dirty="0"/>
              <a:t>Az alkalmazás teljes mértékben mobilbarát, így bárhonnan elérhető.</a:t>
            </a:r>
          </a:p>
          <a:p>
            <a:r>
              <a:rPr lang="hu-HU" b="1" dirty="0"/>
              <a:t>Mobilra optimalizált felület</a:t>
            </a:r>
            <a:endParaRPr lang="hu-HU" dirty="0"/>
          </a:p>
          <a:p>
            <a:r>
              <a:rPr lang="hu-HU" b="1" dirty="0"/>
              <a:t>Webes és natív alkalmazásként is működik</a:t>
            </a:r>
            <a:endParaRPr lang="hu-HU" dirty="0"/>
          </a:p>
          <a:p>
            <a:r>
              <a:rPr lang="hu-HU" b="1" dirty="0"/>
              <a:t>Asztali és mobileszközökről egyaránt könnyen használható</a:t>
            </a:r>
            <a:endParaRPr lang="hu-H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e32ee0fa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1e32ee0fa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hu-HU" dirty="0"/>
              <a:t>A </a:t>
            </a:r>
            <a:r>
              <a:rPr lang="hu-HU" dirty="0" err="1"/>
              <a:t>Laravel</a:t>
            </a:r>
            <a:r>
              <a:rPr lang="hu-HU" dirty="0"/>
              <a:t> saját adatbázis-lekérdezései helyett </a:t>
            </a:r>
            <a:r>
              <a:rPr lang="hu-HU" dirty="0" err="1"/>
              <a:t>MySQL</a:t>
            </a:r>
            <a:r>
              <a:rPr lang="hu-HU" dirty="0"/>
              <a:t> </a:t>
            </a:r>
            <a:r>
              <a:rPr lang="hu-HU" b="1" dirty="0"/>
              <a:t>tárolt eljárásokat</a:t>
            </a:r>
            <a:r>
              <a:rPr lang="hu-HU" dirty="0"/>
              <a:t> alkalmaztunk, mert ezek számos előnyt biztosítanak az alkalmazás számára:</a:t>
            </a:r>
          </a:p>
          <a:p>
            <a:pPr marL="158750" indent="0">
              <a:buNone/>
            </a:pPr>
            <a:r>
              <a:rPr lang="hu-HU" b="1" dirty="0"/>
              <a:t>Gyorsabb végrehajtás</a:t>
            </a:r>
            <a:r>
              <a:rPr lang="hu-HU" dirty="0"/>
              <a:t> – A tárolt eljárásokat az adatbázis szerveren tároljuk és fordítjuk le előre, így gyorsabban futnak, mint a dinamikusan generált </a:t>
            </a:r>
            <a:r>
              <a:rPr lang="hu-HU" dirty="0" err="1"/>
              <a:t>Laravel</a:t>
            </a:r>
            <a:r>
              <a:rPr lang="hu-HU" dirty="0"/>
              <a:t>-lekérdezések.</a:t>
            </a:r>
          </a:p>
          <a:p>
            <a:pPr marL="158750" indent="0">
              <a:buNone/>
            </a:pPr>
            <a:r>
              <a:rPr lang="hu-HU" b="1" dirty="0"/>
              <a:t>Biztonságosabb adatkezelés</a:t>
            </a:r>
            <a:r>
              <a:rPr lang="hu-HU" dirty="0"/>
              <a:t> – A tárolt eljárások segítenek megelőzni az SQL </a:t>
            </a:r>
            <a:r>
              <a:rPr lang="hu-HU" dirty="0" err="1"/>
              <a:t>injection</a:t>
            </a:r>
            <a:r>
              <a:rPr lang="hu-HU" dirty="0"/>
              <a:t> támadásokat, mivel a bemeneti paramétereket közvetlenül kezelik.</a:t>
            </a:r>
          </a:p>
          <a:p>
            <a:pPr marL="158750" indent="0">
              <a:buNone/>
            </a:pPr>
            <a:r>
              <a:rPr lang="hu-HU" b="1" dirty="0"/>
              <a:t>Jobb skálázhatóság</a:t>
            </a:r>
            <a:r>
              <a:rPr lang="hu-HU" dirty="0"/>
              <a:t> – Az adatbázis szintjén kezelt műveletek csökkentik a backend terhelését, így az alkalmazás nagyobb forgalom esetén is stabilan működik.</a:t>
            </a:r>
          </a:p>
          <a:p>
            <a:pPr marL="158750" indent="0">
              <a:buNone/>
            </a:pPr>
            <a:r>
              <a:rPr lang="hu-HU" b="1" dirty="0"/>
              <a:t>Egységes logika az adatbázisban</a:t>
            </a:r>
            <a:r>
              <a:rPr lang="hu-HU" dirty="0"/>
              <a:t> – A kritikus üzleti logika az adatbázisban van tárolva, így függetleníthető a backend kódtól, ami megkönnyíti az esetleges technológiai váltásokat vagy API-integrációkat.</a:t>
            </a:r>
          </a:p>
          <a:p>
            <a:pPr marL="158750" indent="0">
              <a:buNone/>
            </a:pPr>
            <a:r>
              <a:rPr lang="hu-HU" b="1" dirty="0"/>
              <a:t>Kevesebb hálózati forgalom</a:t>
            </a:r>
            <a:r>
              <a:rPr lang="hu-HU" dirty="0"/>
              <a:t> – A </a:t>
            </a:r>
            <a:r>
              <a:rPr lang="hu-HU" dirty="0" err="1"/>
              <a:t>Laravel</a:t>
            </a:r>
            <a:r>
              <a:rPr lang="hu-HU" dirty="0"/>
              <a:t> lekérdezéseknél az adatok többször is mozgathatók a backend és az adatbázis között, míg a tárolt eljárások közvetlenül az adatbázisban futnak, így csökkentik a hálózati terhelést.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249236"/>
            <a:ext cx="7136700" cy="18524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9600" dirty="0">
                <a:gradFill flip="none" rotWithShape="1">
                  <a:gsLst>
                    <a:gs pos="4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  <a:tileRect/>
                </a:gradFill>
              </a:rPr>
              <a:t>Jedlik büfé</a:t>
            </a:r>
            <a:endParaRPr sz="9600" dirty="0">
              <a:gradFill flip="none" rotWithShape="1">
                <a:gsLst>
                  <a:gs pos="4000">
                    <a:srgbClr val="FF0000"/>
                  </a:gs>
                  <a:gs pos="100000">
                    <a:srgbClr val="FFFF00"/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6750" y="2925818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hu" sz="2340" dirty="0">
                <a:solidFill>
                  <a:schemeClr val="accent2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Made by: </a:t>
            </a:r>
            <a:r>
              <a:rPr lang="hu-HU" sz="2340" dirty="0" err="1">
                <a:solidFill>
                  <a:schemeClr val="accent2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Nits</a:t>
            </a:r>
            <a:r>
              <a:rPr lang="hu-HU" sz="2340" dirty="0">
                <a:solidFill>
                  <a:schemeClr val="accent2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László csoportja + Huba</a:t>
            </a:r>
            <a:endParaRPr sz="2340" dirty="0">
              <a:solidFill>
                <a:schemeClr val="accent2">
                  <a:lumMod val="5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78500"/>
            <a:ext cx="85206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5400" dirty="0">
                <a:gradFill flip="none" rotWithShape="1">
                  <a:gsLst>
                    <a:gs pos="4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  <a:tileRect/>
                </a:gradFill>
              </a:rPr>
              <a:t>A probléma</a:t>
            </a:r>
            <a:endParaRPr lang="en-US" sz="5400" dirty="0">
              <a:gradFill flip="none" rotWithShape="1">
                <a:gsLst>
                  <a:gs pos="4000">
                    <a:srgbClr val="FF0000"/>
                  </a:gs>
                  <a:gs pos="100000">
                    <a:srgbClr val="FFFF00"/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4294967295"/>
          </p:nvPr>
        </p:nvSpPr>
        <p:spPr>
          <a:xfrm>
            <a:off x="311700" y="780699"/>
            <a:ext cx="8014882" cy="1553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indent="-374650">
              <a:buClr>
                <a:schemeClr val="accent1"/>
              </a:buClr>
              <a:buSzPts val="2300"/>
            </a:pPr>
            <a:r>
              <a:rPr lang="hu-H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 hagyományos menük elavultak</a:t>
            </a:r>
          </a:p>
          <a:p>
            <a:pPr indent="-374650">
              <a:buClr>
                <a:schemeClr val="accent1"/>
              </a:buClr>
              <a:buSzPts val="2300"/>
            </a:pPr>
            <a:r>
              <a:rPr lang="hu-H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Büfés hölgy hallása sem az igazi már</a:t>
            </a:r>
          </a:p>
          <a:p>
            <a:pPr indent="-374650">
              <a:buClr>
                <a:schemeClr val="accent1"/>
              </a:buClr>
              <a:buSzPts val="2300"/>
            </a:pPr>
            <a:r>
              <a:rPr lang="hu-H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Hosszú sorok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311700" y="2674401"/>
            <a:ext cx="8520600" cy="5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900" dirty="0">
                <a:solidFill>
                  <a:srgbClr val="FBFBFB"/>
                </a:solidFill>
              </a:rPr>
              <a:t>A megoldás</a:t>
            </a:r>
            <a:endParaRPr lang="en-US" sz="4900" dirty="0">
              <a:solidFill>
                <a:srgbClr val="FBFBFB"/>
              </a:solidFill>
            </a:endParaRPr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4294967295"/>
          </p:nvPr>
        </p:nvSpPr>
        <p:spPr>
          <a:xfrm>
            <a:off x="311700" y="3176601"/>
            <a:ext cx="8189628" cy="21190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74650">
              <a:buClr>
                <a:schemeClr val="accent1"/>
              </a:buClr>
              <a:buSzPts val="2300"/>
            </a:pPr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Online rendelés</a:t>
            </a:r>
          </a:p>
          <a:p>
            <a:pPr lvl="0" indent="-374650">
              <a:buClr>
                <a:schemeClr val="accent1"/>
              </a:buClr>
              <a:buSzPts val="2300"/>
            </a:pPr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Gyors és egyszerű megoldás</a:t>
            </a:r>
            <a:endParaRPr lang="en-US" sz="28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4F8E-F809-F578-F2BC-2B01885C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CD40B8-2890-AF62-E3C9-B9F33303F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>
                <a:gradFill flip="none" rotWithShape="1">
                  <a:gsLst>
                    <a:gs pos="4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  <a:tileRect/>
                </a:gradFill>
              </a:rPr>
              <a:t>Technológiák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653F457-08B5-DEEA-FA1D-264BA6A6B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52425"/>
            <a:ext cx="8520600" cy="3302700"/>
          </a:xfrm>
        </p:spPr>
        <p:txBody>
          <a:bodyPr/>
          <a:lstStyle/>
          <a:p>
            <a:r>
              <a:rPr lang="hu-HU" b="1" dirty="0" err="1"/>
              <a:t>Figma</a:t>
            </a:r>
            <a:endParaRPr lang="hu-HU" b="1" dirty="0"/>
          </a:p>
          <a:p>
            <a:r>
              <a:rPr lang="hu-HU" b="1" dirty="0" err="1"/>
              <a:t>Nuxt</a:t>
            </a:r>
            <a:endParaRPr lang="hu-HU" b="1" dirty="0"/>
          </a:p>
          <a:p>
            <a:r>
              <a:rPr lang="hu-HU" b="1" dirty="0" err="1"/>
              <a:t>NodeJs</a:t>
            </a:r>
            <a:endParaRPr lang="hu-HU" b="1" dirty="0"/>
          </a:p>
          <a:p>
            <a:r>
              <a:rPr lang="hu-HU" b="1" dirty="0" err="1"/>
              <a:t>MongoDb</a:t>
            </a:r>
            <a:endParaRPr lang="hu-HU" b="1" dirty="0"/>
          </a:p>
          <a:p>
            <a:r>
              <a:rPr lang="hu-HU" b="1" dirty="0"/>
              <a:t>Papír, ceruza</a:t>
            </a:r>
          </a:p>
          <a:p>
            <a:endParaRPr lang="hu-HU" b="1" dirty="0"/>
          </a:p>
          <a:p>
            <a:endParaRPr lang="hu-HU" b="1" dirty="0"/>
          </a:p>
          <a:p>
            <a:endParaRPr lang="hu-HU" b="1" dirty="0"/>
          </a:p>
        </p:txBody>
      </p:sp>
      <p:pic>
        <p:nvPicPr>
          <p:cNvPr id="2050" name="Picture 2" descr="12 weeks with Figma: A review from a developer">
            <a:extLst>
              <a:ext uri="{FF2B5EF4-FFF2-40B4-BE49-F238E27FC236}">
                <a16:creationId xmlns:a16="http://schemas.microsoft.com/office/drawing/2014/main" id="{22485BA4-0D4F-4BC5-956F-F902A626C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217" y="89820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ntroduction to Nuxt.js: The Framework for Universal Vue.js Applications |  by Kristijan | Medium">
            <a:extLst>
              <a:ext uri="{FF2B5EF4-FFF2-40B4-BE49-F238E27FC236}">
                <a16:creationId xmlns:a16="http://schemas.microsoft.com/office/drawing/2014/main" id="{E9000570-62BA-4E39-B517-16271171A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342" y="898208"/>
            <a:ext cx="364807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ile:Node.js logo.svg - Wikipedia">
            <a:extLst>
              <a:ext uri="{FF2B5EF4-FFF2-40B4-BE49-F238E27FC236}">
                <a16:creationId xmlns:a16="http://schemas.microsoft.com/office/drawing/2014/main" id="{9946383E-E9DF-4587-95D5-95FD9CC8F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342" y="2314675"/>
            <a:ext cx="27336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ájl:MongoDB Logo.svg – Wikipédia">
            <a:extLst>
              <a:ext uri="{FF2B5EF4-FFF2-40B4-BE49-F238E27FC236}">
                <a16:creationId xmlns:a16="http://schemas.microsoft.com/office/drawing/2014/main" id="{5C221274-74C4-4277-ACAF-0913AE0AC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213670"/>
            <a:ext cx="4124325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69407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B38E9C6D-148F-DAA7-DE1B-CD6903CDBE34}"/>
              </a:ext>
            </a:extLst>
          </p:cNvPr>
          <p:cNvSpPr/>
          <p:nvPr/>
        </p:nvSpPr>
        <p:spPr>
          <a:xfrm>
            <a:off x="-48491" y="1163782"/>
            <a:ext cx="9192491" cy="3302700"/>
          </a:xfrm>
          <a:prstGeom prst="rect">
            <a:avLst/>
          </a:prstGeom>
          <a:solidFill>
            <a:srgbClr val="E19825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136220" y="131594"/>
            <a:ext cx="8349600" cy="1032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5400" dirty="0">
                <a:gradFill flip="none" rotWithShape="1">
                  <a:gsLst>
                    <a:gs pos="4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  <a:tileRect/>
                </a:gradFill>
              </a:rPr>
              <a:t>Program funkciói</a:t>
            </a:r>
            <a:endParaRPr sz="5400" dirty="0">
              <a:solidFill>
                <a:srgbClr val="000000"/>
              </a:solidFill>
            </a:endParaRPr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136220" y="1481509"/>
            <a:ext cx="589882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Bejelentkezés</a:t>
            </a:r>
            <a:endParaRPr sz="28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</a:t>
            </a:r>
            <a:r>
              <a:rPr lang="hu-HU" sz="28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endelések</a:t>
            </a:r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menedzselése</a:t>
            </a:r>
            <a:endParaRPr lang="hu" sz="28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65E975-9536-493F-C0A3-DC7C2EBF8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>
                <a:gradFill flip="none" rotWithShape="1">
                  <a:gsLst>
                    <a:gs pos="4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  <a:tileRect/>
                </a:gradFill>
              </a:rPr>
              <a:t>Bejelentkezés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34B5BF3-C014-C253-E18D-7F8FC8278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Szerepkörök:</a:t>
            </a:r>
          </a:p>
          <a:p>
            <a:pPr lvl="1"/>
            <a:r>
              <a:rPr lang="hu-HU" b="1" dirty="0"/>
              <a:t>Tanuló</a:t>
            </a:r>
          </a:p>
          <a:p>
            <a:pPr lvl="1"/>
            <a:r>
              <a:rPr lang="hu-HU" b="1" dirty="0"/>
              <a:t>Büfés hölgy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5014517-D2F1-445F-86D7-3C17EF6C7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981" y="255907"/>
            <a:ext cx="2886478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7973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58A9B-7944-2B47-7960-689632D2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EEB536-34DA-D242-6B6A-79F72B14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u-HU" dirty="0">
                <a:gradFill flip="none" rotWithShape="1">
                  <a:gsLst>
                    <a:gs pos="4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  <a:tileRect/>
                </a:gradFill>
              </a:rPr>
              <a:t>Menü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B72BF79-CE22-426D-BC4A-D1569D90B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547" y="388088"/>
            <a:ext cx="2044496" cy="4427486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E795E864-5DDE-4C49-ADE4-4BD64DB4A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41694"/>
            <a:ext cx="2021263" cy="437388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7C84A0D-13DA-4F1C-BCDA-AC9584CE9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910044"/>
            <a:ext cx="1952898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2631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7A952-CC0D-3697-B5ED-574C4C4DD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615336-BD2F-D71B-B5BC-EAE44E62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>
                <a:gradFill flip="none" rotWithShape="1">
                  <a:gsLst>
                    <a:gs pos="4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  <a:tileRect/>
                </a:gradFill>
              </a:rPr>
              <a:t>Konyhai felület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610A448-7B96-C477-8C45-EDCB6D656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" y="798725"/>
            <a:ext cx="2882802" cy="3302700"/>
          </a:xfrm>
        </p:spPr>
        <p:txBody>
          <a:bodyPr/>
          <a:lstStyle/>
          <a:p>
            <a:pPr marL="114300" indent="0">
              <a:buNone/>
            </a:pPr>
            <a:endParaRPr lang="hu-HU" b="1" dirty="0"/>
          </a:p>
          <a:p>
            <a:r>
              <a:rPr lang="hu-HU" b="1" dirty="0"/>
              <a:t>Összes még nem elkészült rendelés</a:t>
            </a:r>
          </a:p>
          <a:p>
            <a:r>
              <a:rPr lang="hu-HU" b="1" dirty="0"/>
              <a:t>Új rendelés esetén értesítés</a:t>
            </a:r>
          </a:p>
          <a:p>
            <a:pPr lvl="1"/>
            <a:endParaRPr lang="hu-HU" b="1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2FEBCBA-1CBE-4239-B957-1BA24ADC1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722" y="528352"/>
            <a:ext cx="5953956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3638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26DA228B-6847-811A-8ECB-AF267DFE5A05}"/>
              </a:ext>
            </a:extLst>
          </p:cNvPr>
          <p:cNvSpPr/>
          <p:nvPr/>
        </p:nvSpPr>
        <p:spPr>
          <a:xfrm>
            <a:off x="-48491" y="1163782"/>
            <a:ext cx="9192491" cy="3302700"/>
          </a:xfrm>
          <a:prstGeom prst="rect">
            <a:avLst/>
          </a:prstGeom>
          <a:solidFill>
            <a:srgbClr val="E19825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287454" y="2207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sz="5400" dirty="0">
                <a:gradFill flip="none" rotWithShape="1">
                  <a:gsLst>
                    <a:gs pos="4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  <a:tileRect/>
                </a:gradFill>
              </a:rPr>
              <a:t>Kihívások</a:t>
            </a:r>
            <a:endParaRPr sz="5400" dirty="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74650">
              <a:buClr>
                <a:schemeClr val="accent1"/>
              </a:buClr>
              <a:buSzPts val="2300"/>
            </a:pPr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sym typeface="Arial"/>
              </a:rPr>
              <a:t>Új keretrendszerek</a:t>
            </a:r>
          </a:p>
          <a:p>
            <a:pPr indent="-374650">
              <a:buClr>
                <a:schemeClr val="accent1"/>
              </a:buClr>
              <a:buSzPts val="2300"/>
            </a:pPr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sym typeface="Arial"/>
              </a:rPr>
              <a:t>Csoport menedzselés</a:t>
            </a:r>
          </a:p>
          <a:p>
            <a:pPr indent="-374650">
              <a:buClr>
                <a:schemeClr val="accent1"/>
              </a:buClr>
              <a:buSzPts val="2300"/>
            </a:pPr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sym typeface="Arial"/>
              </a:rPr>
              <a:t>Kommunikáció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670242CF-90B0-C1CE-0E7D-3D3A7AAA7875}"/>
              </a:ext>
            </a:extLst>
          </p:cNvPr>
          <p:cNvSpPr/>
          <p:nvPr/>
        </p:nvSpPr>
        <p:spPr>
          <a:xfrm>
            <a:off x="-24246" y="920400"/>
            <a:ext cx="9192491" cy="3302700"/>
          </a:xfrm>
          <a:prstGeom prst="rect">
            <a:avLst/>
          </a:prstGeom>
          <a:solidFill>
            <a:srgbClr val="E19825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-24246" y="2009232"/>
            <a:ext cx="9192491" cy="1125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sz="5400" dirty="0">
                <a:solidFill>
                  <a:schemeClr val="bg1"/>
                </a:solidFill>
              </a:rPr>
              <a:t>Köszönjük a figyelmet!</a:t>
            </a:r>
            <a:endParaRPr sz="5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ropic">
  <a:themeElements>
    <a:clrScheme name="Vörös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</TotalTime>
  <Words>250</Words>
  <Application>Microsoft Office PowerPoint</Application>
  <PresentationFormat>Diavetítés a képernyőre (16:9 oldalarány)</PresentationFormat>
  <Paragraphs>43</Paragraphs>
  <Slides>9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PT Sans Narrow</vt:lpstr>
      <vt:lpstr>Arial</vt:lpstr>
      <vt:lpstr>Segoe UI Black</vt:lpstr>
      <vt:lpstr>Open Sans</vt:lpstr>
      <vt:lpstr>Tropic</vt:lpstr>
      <vt:lpstr>Jedlik büfé</vt:lpstr>
      <vt:lpstr>A probléma</vt:lpstr>
      <vt:lpstr>Technológiák</vt:lpstr>
      <vt:lpstr>Program funkciói</vt:lpstr>
      <vt:lpstr>Bejelentkezés</vt:lpstr>
      <vt:lpstr>Menü</vt:lpstr>
      <vt:lpstr>Konyhai felület</vt:lpstr>
      <vt:lpstr>Kihívások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InnerPeace</dc:title>
  <dc:creator>Dremák Milán</dc:creator>
  <cp:lastModifiedBy>Kiss Marcell</cp:lastModifiedBy>
  <cp:revision>35</cp:revision>
  <dcterms:modified xsi:type="dcterms:W3CDTF">2025-04-14T12:55:29Z</dcterms:modified>
</cp:coreProperties>
</file>